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29" r:id="rId8"/>
    <p:sldId id="302" r:id="rId9"/>
    <p:sldId id="347" r:id="rId10"/>
    <p:sldId id="339" r:id="rId11"/>
    <p:sldId id="340" r:id="rId12"/>
    <p:sldId id="344" r:id="rId13"/>
    <p:sldId id="351" r:id="rId14"/>
    <p:sldId id="345" r:id="rId15"/>
    <p:sldId id="346" r:id="rId16"/>
    <p:sldId id="348" r:id="rId17"/>
    <p:sldId id="349" r:id="rId18"/>
    <p:sldId id="341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60849" y="3583914"/>
            <a:ext cx="7725747" cy="1059855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r"/>
            <a:r>
              <a:rPr lang="en-IN" sz="2900" dirty="0"/>
              <a:t>Analysing Crop Yield, Environmental Conditions, Farm Inputs &amp; Resource Efficiency</a:t>
            </a:r>
          </a:p>
          <a:p>
            <a:pPr algn="r"/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ADESH V</a:t>
            </a:r>
            <a:endParaRPr lang="en-IN" sz="3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Hindustan Institute of Technology and Science </a:t>
            </a:r>
            <a:endParaRPr lang="en-IN" sz="2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1352" y="2784059"/>
            <a:ext cx="10107825" cy="743448"/>
          </a:xfrm>
        </p:spPr>
        <p:txBody>
          <a:bodyPr>
            <a:norm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88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STU6a6053ffcdac21784697855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6764" y="2099388"/>
            <a:ext cx="6431280" cy="43725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productivity varies across crops, seasons, locations and farming practices. This analysis aims to identify the key factors associated with higher yield and better resource efficiency.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agricultural performance across seasons and crops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 and low-yield segments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environmental and farm-management factors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irrigation methods and water efficiency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evidence-based recommendations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47" y="74345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9995160" cy="83099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 is a data analytics project focused on evaluating agricultural productivity across different crops, seasons, states, environmental conditions, farm inputs, irrigation methods, and resource-efficiency measures. Using a dataset of 4,000 farm records, the project analyses yield patterns, identifies high and low-performing farms, examines relationships between agricultural factors and yield, and evaluates irrigation and water-use efficiency. The analysis uses data cleaning, exploratory data analysis, statistical analysis, correlation analysis, yield segmentation, and comparative techniques to generate data-driven insights and practical recommendations for improving agricultural productivity and resource management.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3640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&amp; Farm Managers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improve crop productivity, irrigation, and resource utilization.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Consultants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provide data-driven recommendations for crop and farm management.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&amp; Input Companies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understand crop performance and optimize agricultural inputs.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&amp; Agricultural Departments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support regional and seasonal agricultural planning.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Researchers &amp; Analysts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identify yield patterns and study factors influencing farm performance.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" y="56141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AFF712-F04E-358B-4F97-C711935B45BE}"/>
              </a:ext>
            </a:extLst>
          </p:cNvPr>
          <p:cNvSpPr txBox="1"/>
          <p:nvPr/>
        </p:nvSpPr>
        <p:spPr>
          <a:xfrm>
            <a:off x="592015" y="4955331"/>
            <a:ext cx="8561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factors associated with agricultural yield and resource efficiency to support better crop, irrigation, and farm-management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2149" y="1222699"/>
            <a:ext cx="9027702" cy="5243448"/>
          </a:xfrm>
        </p:spPr>
        <p:txBody>
          <a:bodyPr/>
          <a:lstStyle/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analysis and processing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analysis and documentation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cleaning, manipulation, and aggregation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computations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Statistical charts and visualizations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and project environment </a:t>
            </a:r>
          </a:p>
          <a:p>
            <a:pPr lvl="0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Excel/CSV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Dataset storage and initial data handling</a:t>
            </a:r>
          </a:p>
          <a:p>
            <a:pPr lvl="1"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CC0CE-294E-E763-41A7-1FA2618A1005}"/>
              </a:ext>
            </a:extLst>
          </p:cNvPr>
          <p:cNvSpPr txBox="1"/>
          <p:nvPr/>
        </p:nvSpPr>
        <p:spPr>
          <a:xfrm>
            <a:off x="1894114" y="5325172"/>
            <a:ext cx="79030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Methodology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→ Data Cleaning → EDA → Statistical Analysis → Outlier Analysis → Correlation → Segmentation → Comparative Analysis → Insights →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D69848-5D19-33FF-D307-2CEC7EA5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367176" cy="83099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82C2B3-DB32-2048-F01C-34FFF11C9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583292"/>
              </p:ext>
            </p:extLst>
          </p:nvPr>
        </p:nvGraphicFramePr>
        <p:xfrm>
          <a:off x="677863" y="1782147"/>
          <a:ext cx="8596312" cy="37822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42506476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501756271"/>
                    </a:ext>
                  </a:extLst>
                </a:gridCol>
              </a:tblGrid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352789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4,000 farms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011011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757363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222073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765907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167504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Irrigation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221851"/>
                  </a:ext>
                </a:extLst>
              </a:tr>
              <a:tr h="47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(Tonnes/Ha)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260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1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042084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1925848" y="920748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1551537" y="110592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Yield by Season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146" y="5635538"/>
            <a:ext cx="9116009" cy="9329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Kharif recorded the highest average yield, while Zaid recorded the lowest, indicating seasonal variation in agricultural productivity.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38FE8B-0767-825B-1B5E-069D1F1A4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80" y="827700"/>
            <a:ext cx="5337052" cy="3310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842F27-E1FA-9E3D-F939-BADDEA18F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649" y="1586826"/>
            <a:ext cx="4203800" cy="298530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76D18A6-E017-0039-06F0-57E0A6416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642941"/>
              </p:ext>
            </p:extLst>
          </p:nvPr>
        </p:nvGraphicFramePr>
        <p:xfrm>
          <a:off x="7741136" y="4352730"/>
          <a:ext cx="2877100" cy="146304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113615">
                  <a:extLst>
                    <a:ext uri="{9D8B030D-6E8A-4147-A177-3AD203B41FA5}">
                      <a16:colId xmlns:a16="http://schemas.microsoft.com/office/drawing/2014/main" val="3954043139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44551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09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Kharif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~5.63 t/ha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27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~5.08 t/ha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277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~4.64 t/ha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515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5420043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1033326" y="1119099"/>
            <a:ext cx="4098511" cy="47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Agricultural Yield by Crop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3148" y="5493297"/>
            <a:ext cx="8439473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Sugarcane recorded a median yield of approximately 47.88 t/ha, substantially higher than the other crops.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yields naturally vary by crop type, so comparisons should be interpreted within crop context.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25D99-7862-3948-EA6B-77AB12F50FDB}"/>
              </a:ext>
            </a:extLst>
          </p:cNvPr>
          <p:cNvSpPr txBox="1"/>
          <p:nvPr/>
        </p:nvSpPr>
        <p:spPr>
          <a:xfrm>
            <a:off x="6372808" y="2274838"/>
            <a:ext cx="61022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Sugarcane has the highest average yield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exceeding all other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Maize and Rice follow at much lower yield levels.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Pulses and Cotton record comparatively lower average yields.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type is a major source of variation in agricultural productivity.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404727-509C-650D-0041-BEE22DC07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61" y="1783325"/>
            <a:ext cx="5816340" cy="346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878590" cy="830997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Segmentation &amp; High vs Low Yield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840114" y="1136184"/>
            <a:ext cx="9013013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Performance Segmentation: Low Yield → Medium Yield → High Yield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0862" y="5415865"/>
            <a:ext cx="7537742" cy="9168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High-yield farms experienced higher rainfall and soil moisture and showed substantially higher water-use efficiency than low-yield farms.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5B4DA1-7B9D-CD7A-DA84-260177F90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40552"/>
              </p:ext>
            </p:extLst>
          </p:nvPr>
        </p:nvGraphicFramePr>
        <p:xfrm>
          <a:off x="414289" y="2113635"/>
          <a:ext cx="5501320" cy="263073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781788">
                  <a:extLst>
                    <a:ext uri="{9D8B030D-6E8A-4147-A177-3AD203B41FA5}">
                      <a16:colId xmlns:a16="http://schemas.microsoft.com/office/drawing/2014/main" val="1373143483"/>
                    </a:ext>
                  </a:extLst>
                </a:gridCol>
                <a:gridCol w="1856792">
                  <a:extLst>
                    <a:ext uri="{9D8B030D-6E8A-4147-A177-3AD203B41FA5}">
                      <a16:colId xmlns:a16="http://schemas.microsoft.com/office/drawing/2014/main" val="2746340336"/>
                    </a:ext>
                  </a:extLst>
                </a:gridCol>
                <a:gridCol w="1862740">
                  <a:extLst>
                    <a:ext uri="{9D8B030D-6E8A-4147-A177-3AD203B41FA5}">
                      <a16:colId xmlns:a16="http://schemas.microsoft.com/office/drawing/2014/main" val="2522520883"/>
                    </a:ext>
                  </a:extLst>
                </a:gridCol>
              </a:tblGrid>
              <a:tr h="438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4669753"/>
                  </a:ext>
                </a:extLst>
              </a:tr>
              <a:tr h="438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556.59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644.11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4230424"/>
                  </a:ext>
                </a:extLst>
              </a:tr>
              <a:tr h="438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Moisture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1300923"/>
                  </a:ext>
                </a:extLst>
              </a:tr>
              <a:tr h="438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Nitrogen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116.81 kg/ha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122.86 kg/ha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4640695"/>
                  </a:ext>
                </a:extLst>
              </a:tr>
              <a:tr h="438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4,719.62 m³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8,257.30 m³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451873"/>
                  </a:ext>
                </a:extLst>
              </a:tr>
              <a:tr h="438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9191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D6AC0D4-A097-DB02-4BF4-740C5CAC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1391"/>
            <a:ext cx="5981346" cy="323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6CFAFA-44A0-9A40-73A1-57E3B13D4A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0842" y="5956291"/>
            <a:ext cx="4275138" cy="62609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&amp; Season heatmap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1B2B22-38B1-A913-8450-CC6BB94C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76664"/>
            <a:ext cx="7839788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× Season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B53A0-0A2C-E270-02B0-164D4EE34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68" y="1131239"/>
            <a:ext cx="6559422" cy="475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228696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Analysis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596459" y="1616611"/>
            <a:ext cx="6065728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Method vs Agricultural Performance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39008" y="5570862"/>
            <a:ext cx="7077203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Drip irrigation achieved the highest average yield, while rainfed farming achieved the highest water efficiency, highlighting a productivity–efficiency trade-off.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9D1033-BBAA-40D5-76BA-D891728DE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227058"/>
              </p:ext>
            </p:extLst>
          </p:nvPr>
        </p:nvGraphicFramePr>
        <p:xfrm>
          <a:off x="1220932" y="2245934"/>
          <a:ext cx="4816783" cy="18288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196505">
                  <a:extLst>
                    <a:ext uri="{9D8B030D-6E8A-4147-A177-3AD203B41FA5}">
                      <a16:colId xmlns:a16="http://schemas.microsoft.com/office/drawing/2014/main" val="1574638774"/>
                    </a:ext>
                  </a:extLst>
                </a:gridCol>
                <a:gridCol w="1782147">
                  <a:extLst>
                    <a:ext uri="{9D8B030D-6E8A-4147-A177-3AD203B41FA5}">
                      <a16:colId xmlns:a16="http://schemas.microsoft.com/office/drawing/2014/main" val="529707216"/>
                    </a:ext>
                  </a:extLst>
                </a:gridCol>
                <a:gridCol w="1838131">
                  <a:extLst>
                    <a:ext uri="{9D8B030D-6E8A-4147-A177-3AD203B41FA5}">
                      <a16:colId xmlns:a16="http://schemas.microsoft.com/office/drawing/2014/main" val="1480259307"/>
                    </a:ext>
                  </a:extLst>
                </a:gridCol>
              </a:tblGrid>
              <a:tr h="2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213037"/>
                  </a:ext>
                </a:extLst>
              </a:tr>
              <a:tr h="2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797850"/>
                  </a:ext>
                </a:extLst>
              </a:tr>
              <a:tr h="2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Sprinkler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437077"/>
                  </a:ext>
                </a:extLst>
              </a:tr>
              <a:tr h="2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729382"/>
                  </a:ext>
                </a:extLst>
              </a:tr>
              <a:tr h="2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87066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3192F14-B875-4E55-D04B-B81208756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187" y="1638021"/>
            <a:ext cx="5483831" cy="34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497659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Student-Designed Analysis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73490" y="1201586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Seed Quality vs Yield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7907" y="2308672"/>
            <a:ext cx="5808240" cy="677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quality did not show a consistent positive relationship with yield.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7D1593-E97E-184F-37AE-0B1278DF2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306445"/>
              </p:ext>
            </p:extLst>
          </p:nvPr>
        </p:nvGraphicFramePr>
        <p:xfrm>
          <a:off x="675957" y="1715411"/>
          <a:ext cx="3886712" cy="18288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794749">
                  <a:extLst>
                    <a:ext uri="{9D8B030D-6E8A-4147-A177-3AD203B41FA5}">
                      <a16:colId xmlns:a16="http://schemas.microsoft.com/office/drawing/2014/main" val="1206030083"/>
                    </a:ext>
                  </a:extLst>
                </a:gridCol>
                <a:gridCol w="2091963">
                  <a:extLst>
                    <a:ext uri="{9D8B030D-6E8A-4147-A177-3AD203B41FA5}">
                      <a16:colId xmlns:a16="http://schemas.microsoft.com/office/drawing/2014/main" val="963048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70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50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587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66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196842"/>
                  </a:ext>
                </a:extLst>
              </a:tr>
            </a:tbl>
          </a:graphicData>
        </a:graphic>
      </p:graphicFrame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F120D2C8-6E19-5FD3-EE26-93C98C26784E}"/>
              </a:ext>
            </a:extLst>
          </p:cNvPr>
          <p:cNvSpPr txBox="1">
            <a:spLocks/>
          </p:cNvSpPr>
          <p:nvPr/>
        </p:nvSpPr>
        <p:spPr>
          <a:xfrm>
            <a:off x="675957" y="379986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Disease/Pest Risk vs Yield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E9A48F-F515-AEF5-D68E-9A658A8F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52590"/>
              </p:ext>
            </p:extLst>
          </p:nvPr>
        </p:nvGraphicFramePr>
        <p:xfrm>
          <a:off x="675957" y="4370800"/>
          <a:ext cx="3896043" cy="18288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785419">
                  <a:extLst>
                    <a:ext uri="{9D8B030D-6E8A-4147-A177-3AD203B41FA5}">
                      <a16:colId xmlns:a16="http://schemas.microsoft.com/office/drawing/2014/main" val="3170107062"/>
                    </a:ext>
                  </a:extLst>
                </a:gridCol>
                <a:gridCol w="2110624">
                  <a:extLst>
                    <a:ext uri="{9D8B030D-6E8A-4147-A177-3AD203B41FA5}">
                      <a16:colId xmlns:a16="http://schemas.microsoft.com/office/drawing/2014/main" val="1671323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95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81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57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59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49853"/>
                  </a:ext>
                </a:extLst>
              </a:tr>
            </a:tbl>
          </a:graphicData>
        </a:graphic>
      </p:graphicFrame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8314FF7-C129-5662-646A-8A531D081DE4}"/>
              </a:ext>
            </a:extLst>
          </p:cNvPr>
          <p:cNvSpPr txBox="1">
            <a:spLocks/>
          </p:cNvSpPr>
          <p:nvPr/>
        </p:nvSpPr>
        <p:spPr>
          <a:xfrm>
            <a:off x="5117907" y="4608077"/>
            <a:ext cx="5808240" cy="677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Disease/pest risk showed a non-linear relationship with yield.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3" grpId="0"/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661A0-7B12-BF59-8C4E-7D6FFB53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31157D-11DA-C881-C7DF-6CC6AE28F7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47103DC-CC7D-C053-8BD6-1821F1194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497659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E78089F-00B0-A067-87E1-7A39214482F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0FB2137-4DC4-B904-0EFE-20A4632E7182}"/>
              </a:ext>
            </a:extLst>
          </p:cNvPr>
          <p:cNvSpPr txBox="1">
            <a:spLocks/>
          </p:cNvSpPr>
          <p:nvPr/>
        </p:nvSpPr>
        <p:spPr>
          <a:xfrm>
            <a:off x="473490" y="1201586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37136F3-0027-D4BF-E3E9-01980026D2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0423" y="4236677"/>
            <a:ext cx="5808240" cy="677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Interpretation</a:t>
            </a:r>
          </a:p>
          <a:p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efficiency shows a strong association with yield in the dataset. however, correlation does not establish causation.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A7C661-98E0-1469-B46E-91D5194DB292}"/>
              </a:ext>
            </a:extLst>
          </p:cNvPr>
          <p:cNvGraphicFramePr>
            <a:graphicFrameLocks noGrp="1"/>
          </p:cNvGraphicFramePr>
          <p:nvPr/>
        </p:nvGraphicFramePr>
        <p:xfrm>
          <a:off x="675957" y="1715411"/>
          <a:ext cx="3886712" cy="18288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794749">
                  <a:extLst>
                    <a:ext uri="{9D8B030D-6E8A-4147-A177-3AD203B41FA5}">
                      <a16:colId xmlns:a16="http://schemas.microsoft.com/office/drawing/2014/main" val="1206030083"/>
                    </a:ext>
                  </a:extLst>
                </a:gridCol>
                <a:gridCol w="2091963">
                  <a:extLst>
                    <a:ext uri="{9D8B030D-6E8A-4147-A177-3AD203B41FA5}">
                      <a16:colId xmlns:a16="http://schemas.microsoft.com/office/drawing/2014/main" val="963048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70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50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587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66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196842"/>
                  </a:ext>
                </a:extLst>
              </a:tr>
            </a:tbl>
          </a:graphicData>
        </a:graphic>
      </p:graphicFrame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30FF2E2-1349-6854-0C2E-0CE87A74B279}"/>
              </a:ext>
            </a:extLst>
          </p:cNvPr>
          <p:cNvSpPr txBox="1">
            <a:spLocks/>
          </p:cNvSpPr>
          <p:nvPr/>
        </p:nvSpPr>
        <p:spPr>
          <a:xfrm>
            <a:off x="675957" y="5737576"/>
            <a:ext cx="8085488" cy="677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Production, revenue and profit are outcome/business variables and should not automatically be interpreted as independent yield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7E41E1-5C35-B6DC-87C2-866C6F0A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3301"/>
            <a:ext cx="5589036" cy="449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6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494241-60FD-43EE-C9CE-F3D675B2F0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272618"/>
            <a:ext cx="4532605" cy="35607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Kharif achieved the highest seasonal yield.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type creates substantial differences in yield.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High-yield farms had higher rainfall and soil moisture.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Drip irrigation produced the highest average yield.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Rainfed farming achieved the highest water efficiency.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Fertilizer quantity alone did not distinguish high- and low-yield farms.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 quality did not show a consistent relationship with yield.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Disease/pest risk showed a non-linear relationship with yield.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069CBB-FB9D-246A-6ED1-6DA4F3B2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70682"/>
            <a:ext cx="4275138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45CDE-00B4-9D02-1999-B952F7F24162}"/>
              </a:ext>
            </a:extLst>
          </p:cNvPr>
          <p:cNvSpPr txBox="1"/>
          <p:nvPr/>
        </p:nvSpPr>
        <p:spPr>
          <a:xfrm>
            <a:off x="1324947" y="4985217"/>
            <a:ext cx="80046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performance is influenced by a combination of crop, seasonal, environmental and management factors. The analysis highlights drip irrigation, appropriate water management, seasonal planning and crop-specific strategies as important areas for improving productivity and resource utilization.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5444CC-6AD4-2A65-1DFD-74912F02E114}"/>
              </a:ext>
            </a:extLst>
          </p:cNvPr>
          <p:cNvSpPr txBox="1">
            <a:spLocks/>
          </p:cNvSpPr>
          <p:nvPr/>
        </p:nvSpPr>
        <p:spPr>
          <a:xfrm>
            <a:off x="6998996" y="986693"/>
            <a:ext cx="4275138" cy="35607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efficient irrigation, particularly drip irrigation where appropriate.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water allocation according to crop and soil requirements.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crop- and season-specific farming strategies.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balanced nutrient management rather than simply increasing fertilizer.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preventive pest and disease management.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soil moisture for better irrigation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21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32" y="384018"/>
            <a:ext cx="4735798" cy="8309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4D208-61EA-5651-7AEE-D2120136FE60}"/>
              </a:ext>
            </a:extLst>
          </p:cNvPr>
          <p:cNvSpPr txBox="1"/>
          <p:nvPr/>
        </p:nvSpPr>
        <p:spPr>
          <a:xfrm>
            <a:off x="578498" y="1344281"/>
            <a:ext cx="113578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Yield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machine-learning models to forecast crop yield using weather, soil, irrigation, and farming inputs.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 live rainfall, temperature, and humidity data for better seasonal planning.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Irrigation: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recommendations for optimal water usage based on crop and soil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&amp; Season Optimization: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best crop–season–location combinations to maximize productivity.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models to predict disease and pest risks before they significantly affect yield.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Optimization: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analysis from yield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considering input costs, market prices, and resource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&amp; Sensor Data: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real-time soil-moisture and environmental sensor data for precision farming.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Multi-Year Dataset: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historical data across more years and regions to improve the reliability and generalizability of findings.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FAC46-608B-9DFB-EECD-B4F761F08936}"/>
              </a:ext>
            </a:extLst>
          </p:cNvPr>
          <p:cNvSpPr txBox="1"/>
          <p:nvPr/>
        </p:nvSpPr>
        <p:spPr>
          <a:xfrm>
            <a:off x="1129003" y="2886565"/>
            <a:ext cx="87054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https://github.com/AdeshVijayan/Seasonal-Agriculture-Performance-Analysis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13" y="370589"/>
            <a:ext cx="11749178" cy="768098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 - 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F253AA-DDB8-4401-B66A-1FE14D858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92" y="993675"/>
            <a:ext cx="7544454" cy="531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54537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1034</TotalTime>
  <Words>1162</Words>
  <Application>Microsoft Office PowerPoint</Application>
  <PresentationFormat>Widescreen</PresentationFormat>
  <Paragraphs>189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Seasonal Agriculture Performance Analysis is a data analytics project focused on evaluating agricultural productivity across different crops, seasons, states, environmental conditions, farm inputs, irrigation methods, and resource-efficiency measures. Using a dataset of 4,000 farm records, the project analyses yield patterns, identifies high and low-performing farms, examines relationships between agricultural factors and yield, and evaluates irrigation and water-use efficiency. The analysis uses data cleaning, exploratory data analysis, statistical analysis, correlation analysis, yield segmentation, and comparative techniques to generate data-driven insights and practical recommendations for improving agricultural productivity and resource management. </vt:lpstr>
      <vt:lpstr>WHO ARE THE END USERS?</vt:lpstr>
      <vt:lpstr>Technology Used</vt:lpstr>
      <vt:lpstr>Dataset Overview</vt:lpstr>
      <vt:lpstr>Seasonal Performance</vt:lpstr>
      <vt:lpstr>Crop Performance</vt:lpstr>
      <vt:lpstr>Yield Segmentation &amp; High vs Low Yield</vt:lpstr>
      <vt:lpstr>State × Season Analysis</vt:lpstr>
      <vt:lpstr>Irrigation Analysis </vt:lpstr>
      <vt:lpstr>Student-Designed Analysis </vt:lpstr>
      <vt:lpstr>Correlation Analysis</vt:lpstr>
      <vt:lpstr>CONCLUSION</vt:lpstr>
      <vt:lpstr>Future scope</vt:lpstr>
      <vt:lpstr>GitHub Link</vt:lpstr>
      <vt:lpstr>VOIS Course completion certificate -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Adesh Vijayan</cp:lastModifiedBy>
  <cp:revision>101</cp:revision>
  <dcterms:created xsi:type="dcterms:W3CDTF">2021-07-11T13:13:15Z</dcterms:created>
  <dcterms:modified xsi:type="dcterms:W3CDTF">2026-09-06T15:24:36Z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